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KPI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Tahoma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Tahoma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ระดับฝ่าย 70%</c:v>
                </c:pt>
                <c:pt idx="1">
                  <c:v>ระดับคลัง 30%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863840" y="1005840"/>
            <a:ext cx="4023360" cy="4023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แผนนำเสนอฝ่ายบริหาร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201168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แผนยกระดับการบริหารคลังสินค้า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SOP  •  Checkpoint  •  KPI  •  Dashboard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3840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0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แนวทางลดความผิดพลาด เพิ่มความแม่นยำของสต๊อก และสร้างมาตรฐานการทำงานร่วมกันทั้งคลังสินค้า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3C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นำเสนอฝ่ายบริหาร   |   กรกฎาคม 2569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 และกระบวนการทำงานคลังสินค้า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ยกระดับความถูกต้องของสต๊อก ลดความผิดพลาดในการทำงานทุกขั้นตอน และสร้างมาตรฐานการทำงานร่วมกันของทุกฝ่าย ด้วย SOP, Checkpoint และ KPI ที่ชัดเจนและเป็นธรรม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กระบวนการทำงานหลัก (End-to-End Flow)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02209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ซัพพลายเออร์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380173" y="29992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864233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965" y="30220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4777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รับสินค้า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695766" y="29992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179826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558" y="302209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60370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จัดเก็บ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011359" y="29992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4495419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151" y="302209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75963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เติมสินค้า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5326952" y="29992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5811012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744" y="3022092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91556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ตำแหน่งหยิบ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6642545" y="29992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7126605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8337" y="3022092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07149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หยิบสินค้า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958138" y="29992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2"/>
          <p:cNvSpPr/>
          <p:nvPr/>
        </p:nvSpPr>
        <p:spPr>
          <a:xfrm>
            <a:off x="8442198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3930" y="3022092"/>
            <a:ext cx="283464" cy="28346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222742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แพ็คสินค้า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9273731" y="29992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25"/>
          <p:cNvSpPr/>
          <p:nvPr/>
        </p:nvSpPr>
        <p:spPr>
          <a:xfrm>
            <a:off x="9757791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9523" y="3022092"/>
            <a:ext cx="283464" cy="28346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538335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ตรวจสอบออเดอร์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0589324" y="29992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38" name="Shape 28"/>
          <p:cNvSpPr/>
          <p:nvPr/>
        </p:nvSpPr>
        <p:spPr>
          <a:xfrm>
            <a:off x="11073384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15116" y="3022092"/>
            <a:ext cx="283464" cy="28346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0853928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ส่งขนส่ง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548640" y="3977640"/>
            <a:ext cx="11091672" cy="2423160"/>
          </a:xfrm>
          <a:prstGeom prst="roundRect">
            <a:avLst>
              <a:gd name="adj" fmla="val 3019"/>
            </a:avLst>
          </a:prstGeom>
          <a:solidFill>
            <a:srgbClr val="EEF3FD"/>
          </a:solidFill>
          <a:ln/>
        </p:spPr>
      </p:sp>
      <p:sp>
        <p:nvSpPr>
          <p:cNvPr id="42" name="Shape 31"/>
          <p:cNvSpPr/>
          <p:nvPr/>
        </p:nvSpPr>
        <p:spPr>
          <a:xfrm>
            <a:off x="86868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381" y="5058461"/>
            <a:ext cx="261518" cy="26151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600200" y="3977640"/>
            <a:ext cx="9784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ปัญหาส่วนใหญ่เกิดขึ้นระหว่างขั้นตอน ไม่ใช่ที่ปลายทาง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การไม่มี Checkpoint ระหว่างขั้นตอนคือช่องโหว่ที่ทำให้สต๊อกคลาดเคลื่อนสะสมจนตรวจพบช้า ส่งผลต่อการหยิบ แพ็ค และจัดส่งในลำดับถัดไป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ปัญหาหลักที่พบในการดำเนินงาน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9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3977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0078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สต๊อกไม่ตรงกับระบบ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(Inventory Accuracy)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35915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นับสต๊อกพบขาด/เกินเป็นประจำ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ตำแหน่งหยิบไม่ตรงกับข้อมูลระบบ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เสียเวลาตรวจ Transfer / CN / Cancel Order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4630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719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183977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0078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การเติมสินค้า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(Replenishment)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73952" y="235915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เติมสินค้าไม่ครบหรือเกินจากใบเติม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ส่งผิด SKU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ไม่ตรวจนับก่อนรับเข้าตำแหน่งหยิบ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793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40009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26110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การจัดเก็บสินค้า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(Put Away)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91947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จัดเก็บผิดตำแหน่ง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ไม่มีการยืนยันตำแหน่งหลังจัดเก็บ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ค้นหาสินค้านาน เสี่ยงหยิบผิด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99632" y="402336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2793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440009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26110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การแพ็คสินค้า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(Packing)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73952" y="491947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ส่งไม่ครบ / ผิด SKU / ผิดรุ่นหรือสี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ออเดอร์ยกเลิกระหว่าง Wave แต่ยังแพ็ค-ส่งได้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ลูกค้าร้องเรียน ต้นทุนเคลมเพิ่มขึ้น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สาเหตุหลักมาจาก “กระบวนการ” มากกว่าตัวบุคคล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3225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939" y="2408987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20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Checkpoint ในแต่ละขั้นตอน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9" name="Shape 6"/>
          <p:cNvSpPr/>
          <p:nvPr/>
        </p:nvSpPr>
        <p:spPr>
          <a:xfrm>
            <a:off x="4544568" y="23225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979" y="2408987"/>
            <a:ext cx="211226" cy="2112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1920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ไม่มีการตรวจนับก่อนส่ง-ก่อนรับสินค้า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92440" y="1828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13" name="Shape 9"/>
          <p:cNvSpPr/>
          <p:nvPr/>
        </p:nvSpPr>
        <p:spPr>
          <a:xfrm>
            <a:off x="8293608" y="23225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019" y="2408987"/>
            <a:ext cx="211226" cy="2112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23960" y="1920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SOP แต่ละฝ่ายยังไม่เป็นมาตรฐานเดียวกัน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" y="34290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17" name="Shape 12"/>
          <p:cNvSpPr/>
          <p:nvPr/>
        </p:nvSpPr>
        <p:spPr>
          <a:xfrm>
            <a:off x="795528" y="39227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39" y="4009187"/>
            <a:ext cx="211226" cy="2112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5204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ไม่มีผู้รับผิดชอบ (Owner) ที่ชัดเจน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43400" y="34290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21" name="Shape 15"/>
          <p:cNvSpPr/>
          <p:nvPr/>
        </p:nvSpPr>
        <p:spPr>
          <a:xfrm>
            <a:off x="4544568" y="39227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979" y="4009187"/>
            <a:ext cx="211226" cy="21122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74920" y="35204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การสื่อสารระหว่างฝ่ายยังไม่ชัดเจน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92440" y="34290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25" name="Shape 18"/>
          <p:cNvSpPr/>
          <p:nvPr/>
        </p:nvSpPr>
        <p:spPr>
          <a:xfrm>
            <a:off x="8293608" y="39227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019" y="4009187"/>
            <a:ext cx="211226" cy="21122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23960" y="35204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KPI ที่สะท้อนคุณภาพงาน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594360" y="5029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29" name="Shape 21"/>
          <p:cNvSpPr/>
          <p:nvPr/>
        </p:nvSpPr>
        <p:spPr>
          <a:xfrm>
            <a:off x="795528" y="55229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939" y="5609387"/>
            <a:ext cx="211226" cy="21122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25880" y="51206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Dashboard ติดตามผลรายวัน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4343400" y="5029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33" name="Shape 24"/>
          <p:cNvSpPr/>
          <p:nvPr/>
        </p:nvSpPr>
        <p:spPr>
          <a:xfrm>
            <a:off x="4544568" y="55229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0979" y="5609387"/>
            <a:ext cx="211226" cy="21122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074920" y="51206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ไม่มีการบันทึกสาเหตุ (Reason Code)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8092440" y="5029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37" name="Shape 27"/>
          <p:cNvSpPr/>
          <p:nvPr/>
        </p:nvSpPr>
        <p:spPr>
          <a:xfrm>
            <a:off x="8293608" y="55229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0019" y="5609387"/>
            <a:ext cx="211226" cy="21122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823960" y="51206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แก้ปัญหาแบบ Reactive มากกว่า Preventive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แนวทางแก้ไข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ปรับปรุงกระบวนการด้วย 4 แนวทางหลัก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3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ปรับปรุงกระบวนการ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Checkpoint ทุกขั้นตอน ตรวจนับก่อนส่ง-รับ ใช้ Barcode Scan ยืนยัน SKU และตำแหน่ง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93692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311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จัดทำ SOP มาตรฐาน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93592" y="333756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กำหนดมาตรฐานทุกขั้นตอน ตั้งแต่ Receiving จนถึง Shipping และ Cycle Count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55764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20738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ABC Cycle Count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55664" y="333756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ตรวจทุกวัน • B ตรวจทุกสัปดาห์ • C ตรวจทุกเดือน ตามความเร็วในการขาย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6002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17836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1455" y="20738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Reason Code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17736" y="333756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ระบุสาเหตุทุกครั้งที่พบปัญหา เพื่อวิเคราะห์และป้องกันการเกิดซ้ำ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กำหนดผู้รับผิดชอบ (Owner) ชัดเจนทุกขั้นตอน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6118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2043684" y="185623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914" y="2005462"/>
            <a:ext cx="323332" cy="3233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514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ฝ่ายรับเข้า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292608" cy="292608"/>
          </a:xfrm>
          <a:prstGeom prst="ellipse">
            <a:avLst/>
          </a:prstGeom>
          <a:solidFill>
            <a:srgbClr val="E7EC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2" y="3258922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31455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Receiving (รับสินค้า)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3858768"/>
            <a:ext cx="292608" cy="292608"/>
          </a:xfrm>
          <a:prstGeom prst="ellipse">
            <a:avLst/>
          </a:prstGeom>
          <a:solidFill>
            <a:srgbClr val="E7EC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917290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8039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Put Away (จัดเก็บ)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4517136"/>
            <a:ext cx="292608" cy="292608"/>
          </a:xfrm>
          <a:prstGeom prst="ellipse">
            <a:avLst/>
          </a:prstGeom>
          <a:solidFill>
            <a:srgbClr val="E7EC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575658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4622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Replenishment (เติมสินค้า)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379976" y="16002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379976" y="16002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1" name="Shape 15"/>
          <p:cNvSpPr/>
          <p:nvPr/>
        </p:nvSpPr>
        <p:spPr>
          <a:xfrm>
            <a:off x="4379976" y="2194560"/>
            <a:ext cx="36118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5875020" y="185623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250" y="2005462"/>
            <a:ext cx="323332" cy="3233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71416" y="2514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ฝ่ายดูแลตำแหน่งหยิบ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4654296" y="3200400"/>
            <a:ext cx="292608" cy="292608"/>
          </a:xfrm>
          <a:prstGeom prst="ellipse">
            <a:avLst/>
          </a:prstGeom>
          <a:solidFill>
            <a:srgbClr val="E7ECF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2818" y="3258922"/>
            <a:ext cx="175565" cy="17556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65776" y="31455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Picking Location (ตำแหน่งหยิบ)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4654296" y="3950208"/>
            <a:ext cx="3063240" cy="0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654296" y="4133088"/>
            <a:ext cx="30632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จุดเชื่อมสำคัญระหว่างฝ่ายรับเข้าและห้องแพ็ค รับผิดชอบความถูกต้องของจำนวนสินค้าในตำแหน่งหยิบทุกจุด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211312" y="16002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11312" y="16002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2" name="Shape 24"/>
          <p:cNvSpPr/>
          <p:nvPr/>
        </p:nvSpPr>
        <p:spPr>
          <a:xfrm>
            <a:off x="8211312" y="2194560"/>
            <a:ext cx="36118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Shape 25"/>
          <p:cNvSpPr/>
          <p:nvPr/>
        </p:nvSpPr>
        <p:spPr>
          <a:xfrm>
            <a:off x="9706356" y="185623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586" y="2005462"/>
            <a:ext cx="323332" cy="3233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02752" y="2514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ห้องแพ็ค</a:t>
            </a:r>
            <a:endParaRPr lang="en-US" sz="1500" dirty="0"/>
          </a:p>
        </p:txBody>
      </p:sp>
      <p:sp>
        <p:nvSpPr>
          <p:cNvPr id="36" name="Shape 27"/>
          <p:cNvSpPr/>
          <p:nvPr/>
        </p:nvSpPr>
        <p:spPr>
          <a:xfrm>
            <a:off x="8485632" y="3200400"/>
            <a:ext cx="292608" cy="292608"/>
          </a:xfrm>
          <a:prstGeom prst="ellipse">
            <a:avLst/>
          </a:prstGeom>
          <a:solidFill>
            <a:srgbClr val="E7ECF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4154" y="3258922"/>
            <a:ext cx="175565" cy="17556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897112" y="31455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Picking (หยิบสินค้า)</a:t>
            </a:r>
            <a:endParaRPr lang="en-US" sz="1250" dirty="0"/>
          </a:p>
        </p:txBody>
      </p:sp>
      <p:sp>
        <p:nvSpPr>
          <p:cNvPr id="39" name="Shape 29"/>
          <p:cNvSpPr/>
          <p:nvPr/>
        </p:nvSpPr>
        <p:spPr>
          <a:xfrm>
            <a:off x="8485632" y="3858768"/>
            <a:ext cx="292608" cy="292608"/>
          </a:xfrm>
          <a:prstGeom prst="ellipse">
            <a:avLst/>
          </a:prstGeom>
          <a:solidFill>
            <a:srgbClr val="E7ECFA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4154" y="3917290"/>
            <a:ext cx="175565" cy="17556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897112" y="38039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Packing (แพ็คสินค้า)</a:t>
            </a:r>
            <a:endParaRPr lang="en-US" sz="1250" dirty="0"/>
          </a:p>
        </p:txBody>
      </p:sp>
      <p:sp>
        <p:nvSpPr>
          <p:cNvPr id="42" name="Shape 31"/>
          <p:cNvSpPr/>
          <p:nvPr/>
        </p:nvSpPr>
        <p:spPr>
          <a:xfrm>
            <a:off x="8485632" y="4517136"/>
            <a:ext cx="292608" cy="292608"/>
          </a:xfrm>
          <a:prstGeom prst="ellipse">
            <a:avLst/>
          </a:prstGeom>
          <a:solidFill>
            <a:srgbClr val="E7ECFA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4154" y="4575658"/>
            <a:ext cx="175565" cy="17556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897112" y="44622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Shipping (ส่งขนส่ง)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 KPI ของคลังสินค้า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0992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≥99%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Inventory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70992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≥99.5%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2468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Receiving Accuracy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2440" y="1600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70992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≥99.5%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Replenishment Accuracy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1546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644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≥99.8%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Picking Accuracy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1546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2644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≥99.9%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480560" y="4023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Packing Accuracy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92440" y="31546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32644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≥99.9%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29600" y="4023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 Accuracy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7091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81888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&lt;0.2%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31520" y="55778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Lost Pick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7091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81888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480560" y="55778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Wave Cancel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47091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C3A78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81888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229600" y="55778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Cycle Count Completion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ความเป็นธรรม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โมเดลประเมิน KPI แบบ 2 ระดับ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00200"/>
            <a:ext cx="5669280" cy="1874520"/>
          </a:xfrm>
          <a:prstGeom prst="roundRect">
            <a:avLst>
              <a:gd name="adj" fmla="val 4390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621" y="1976933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0" y="18196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ระดับฝ่าย (70%)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217920" y="2423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วัดผลตามหน้าที่ของแต่ละแผนก เช่น Receiving Accuracy, Replenishment Accuracy, Packing Accuracy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943600" y="3794760"/>
            <a:ext cx="5669280" cy="1874520"/>
          </a:xfrm>
          <a:prstGeom prst="roundRect">
            <a:avLst>
              <a:gd name="adj" fmla="val 4390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17920" y="405079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4171493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0" y="40142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ระดับคลัง (30%)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217920" y="4617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วัดผลลัพธ์ร่วมกันของทั้งคลัง เช่น Inventory Accuracy, Order Accuracy, Lost Pick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ทุกฝ่ายรับผิดชอบงานของตนเอง พร้อมร่วมกันรักษาคุณภาพคลังสินค้าโดยรวม — ไม่โยนปัญหาให้ฝ่ายใดฝ่ายหนึ่ง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DAILY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ที่ควรติดตามทุกวัน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185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410" y="2317090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Receiving Error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70632" y="1874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38728" y="2185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402" y="2317090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62072" y="2971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Put Away Error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992624" y="1874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60720" y="2185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394" y="2317090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84064" y="2971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Replenishment Error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14616" y="1874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982712" y="2185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386" y="2317090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06056" y="2971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Inventory Accuracy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436608" y="1874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204704" y="2185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6378" y="2317090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28048" y="2971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Lost Pick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4160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316736" y="4471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8410" y="4603090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0080" y="5257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Wrong SKU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2770632" y="4160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538728" y="4471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0402" y="4603090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862072" y="5257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Wrong Quantity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4992624" y="4160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760720" y="4471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2394" y="4603090"/>
            <a:ext cx="285293" cy="28529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084064" y="5257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Short Shipment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7214616" y="4160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982712" y="4471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4386" y="4603090"/>
            <a:ext cx="285293" cy="28529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306056" y="5257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Wave Cancel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9436608" y="416052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10204704" y="4471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6378" y="4603090"/>
            <a:ext cx="285293" cy="285293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528048" y="52578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 Accuracy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แผนดำเนินงาน 90 วัน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06424" y="2249424"/>
            <a:ext cx="6967728" cy="0"/>
          </a:xfrm>
          <a:prstGeom prst="line">
            <a:avLst/>
          </a:prstGeom>
          <a:noFill/>
          <a:ln w="25400">
            <a:solidFill>
              <a:srgbClr val="D8E0F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6426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เดือนที่ 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35584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410712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329184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จัดทำ SOP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7947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849624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37307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 Owner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423367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288536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16966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Checkpoint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2960" y="4672584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727448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460857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เริ่มเก็บ Baseline KPI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590288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6"/>
          <p:cNvSpPr/>
          <p:nvPr/>
        </p:nvSpPr>
        <p:spPr>
          <a:xfrm>
            <a:off x="4590288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4407408" y="26426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เดือนที่ 2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453128" y="3127248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335584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410712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01768" y="329184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เริ่มใช้ ABC Cycle Count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636008" y="37947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3849624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001768" y="37307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Dashboard รายวัน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4636008" y="423367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288536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001768" y="416966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 Root Cause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4636008" y="4672584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0872" y="4727448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01768" y="460857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ประชุม KPI รายสัปดาห์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8403336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28"/>
          <p:cNvSpPr/>
          <p:nvPr/>
        </p:nvSpPr>
        <p:spPr>
          <a:xfrm>
            <a:off x="8403336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39" name="Text 29"/>
          <p:cNvSpPr/>
          <p:nvPr/>
        </p:nvSpPr>
        <p:spPr>
          <a:xfrm>
            <a:off x="8220456" y="26426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เดือนที่ 3</a:t>
            </a:r>
            <a:endParaRPr lang="en-US" sz="1500" dirty="0"/>
          </a:p>
        </p:txBody>
      </p:sp>
      <p:sp>
        <p:nvSpPr>
          <p:cNvPr id="40" name="Shape 30"/>
          <p:cNvSpPr/>
          <p:nvPr/>
        </p:nvSpPr>
        <p:spPr>
          <a:xfrm>
            <a:off x="8266176" y="3127248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8449056" y="335584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3410712"/>
            <a:ext cx="164592" cy="16459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814816" y="329184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ประเมินผล KPI</a:t>
            </a:r>
            <a:endParaRPr lang="en-US" sz="1150" dirty="0"/>
          </a:p>
        </p:txBody>
      </p:sp>
      <p:sp>
        <p:nvSpPr>
          <p:cNvPr id="44" name="Shape 33"/>
          <p:cNvSpPr/>
          <p:nvPr/>
        </p:nvSpPr>
        <p:spPr>
          <a:xfrm>
            <a:off x="8449056" y="37947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0" y="3849624"/>
            <a:ext cx="164592" cy="16459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8814816" y="37307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ปรับปรุง SOP</a:t>
            </a:r>
            <a:endParaRPr lang="en-US" sz="1150" dirty="0"/>
          </a:p>
        </p:txBody>
      </p:sp>
      <p:sp>
        <p:nvSpPr>
          <p:cNvPr id="47" name="Shape 35"/>
          <p:cNvSpPr/>
          <p:nvPr/>
        </p:nvSpPr>
        <p:spPr>
          <a:xfrm>
            <a:off x="8449056" y="423367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3920" y="4288536"/>
            <a:ext cx="164592" cy="164592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814816" y="416966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ดำเนินการ CAPA</a:t>
            </a:r>
            <a:endParaRPr lang="en-US" sz="1150" dirty="0"/>
          </a:p>
        </p:txBody>
      </p:sp>
      <p:sp>
        <p:nvSpPr>
          <p:cNvPr id="50" name="Shape 37"/>
          <p:cNvSpPr/>
          <p:nvPr/>
        </p:nvSpPr>
        <p:spPr>
          <a:xfrm>
            <a:off x="8449056" y="4672584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0" y="4727448"/>
            <a:ext cx="164592" cy="164592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8814816" y="460857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เริ่มใช้ KPI ฝ่าย/คลังจริง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EXPECTED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ผลลัพธ์ที่คาดหวัง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8823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730" y="1968886"/>
            <a:ext cx="222748" cy="2227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554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Inventory Accuracy ≥99%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55080" y="188823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730" y="1968886"/>
            <a:ext cx="222748" cy="2227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85432" y="1554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 Lost Pick อย่างต่อเนื่อง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16839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0" y="3249046"/>
            <a:ext cx="222748" cy="2227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28346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ลดแพ็คผิดและส่งสินค้าไม่ครบ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355080" y="316839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730" y="3249046"/>
            <a:ext cx="222748" cy="2227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85432" y="28346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ลดออเดอร์ยกเลิกหลุดส่ง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444855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30" y="4529206"/>
            <a:ext cx="222748" cy="2227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0432" y="41148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ลดเวลาค้นหาสินค้า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355080" y="444855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730" y="4529206"/>
            <a:ext cx="222748" cy="2227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85432" y="41148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ลดต้นทุนจากความผิดพลาด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640080" y="572871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730" y="5809366"/>
            <a:ext cx="222748" cy="22274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70432" y="53949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เพิ่มประสิทธิภาพทุกฝ่าย</a:t>
            </a:r>
            <a:endParaRPr lang="en-US" sz="1450" dirty="0"/>
          </a:p>
        </p:txBody>
      </p:sp>
      <p:sp>
        <p:nvSpPr>
          <p:cNvPr id="25" name="Shape 16"/>
          <p:cNvSpPr/>
          <p:nvPr/>
        </p:nvSpPr>
        <p:spPr>
          <a:xfrm>
            <a:off x="6355080" y="572871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730" y="5809366"/>
            <a:ext cx="222748" cy="22274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85432" y="53949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มาตรฐานทำงานร่วมกันทั้งคลัง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ข้อเสนอเพื่อผู้บริหาร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ป้องกันปัญหาตั้งแต่ต้นทาง สร้างมาตรฐานทั้งคลังสินค้า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38048" y="2148840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048" y="21488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Owner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35528" y="2148840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5528" y="21488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3008" y="21488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30488" y="2148840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30488" y="21488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86788" y="2944368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6788" y="29443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84268" y="2944368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4268" y="29443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81748" y="2944368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1748" y="29443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CAPA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ประเมินผลด้วยโมเดล KPI ระดับฝ่าย 70% และระดับคลัง 30% เพื่อความเป็นธรรม โปร่งใส ส่งเสริมการทำงานเป็นทีม และสอดคล้องกับเป้าหมายของบริษัท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093C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Owner  +  SOP  +  Checkpoint  +  KPI  +  Dashboard  +  Root Cause  +  CAPA  →  Continuous Improvement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แผนยกระดับการบริหารคลังสินค้า</dc:title>
  <dc:subject>PptxGenJS Presentation</dc:subject>
  <dc:creator>Warehouse Ops</dc:creator>
  <cp:lastModifiedBy>Warehouse Ops</cp:lastModifiedBy>
  <cp:revision>1</cp:revision>
  <dcterms:created xsi:type="dcterms:W3CDTF">2026-07-01T13:15:02Z</dcterms:created>
  <dcterms:modified xsi:type="dcterms:W3CDTF">2026-07-01T13:15:02Z</dcterms:modified>
</cp:coreProperties>
</file>